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12680" y="0"/>
            <a:ext cx="2176272" cy="14630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75720" y="594360"/>
            <a:ext cx="713232" cy="7132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16768" y="1508760"/>
            <a:ext cx="1472184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82512"/>
            <a:ext cx="3840480" cy="47548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8046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 panose="020F0502020204030204"/>
              </a:rPr>
              <a:t>DATA ANALYSIS &amp; MACHINE LEARNING PROJECT</a:t>
            </a:r>
            <a:endParaRPr sz="12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7955279" cy="14813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 panose="020F0502020204030204"/>
              </a:rPr>
              <a:t>Pollution Risk
Forecasting</a:t>
            </a:r>
            <a:endParaRPr sz="4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3154680"/>
            <a:ext cx="786384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 panose="020F0502020204030204"/>
              </a:rPr>
              <a:t>Air Quality Intelligence through PM2.5 Prediction</a:t>
            </a:r>
            <a:endParaRPr sz="2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3822191"/>
            <a:ext cx="5603240" cy="52197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DCE0F0"/>
                </a:solidFill>
                <a:latin typeface="Calibri" panose="020F0502020204030204"/>
              </a:rPr>
              <a:t>Predicting fine particulate matter from pollutant and weather conditions —</a:t>
            </a:r>
            <a:endParaRPr sz="1400" b="0">
              <a:solidFill>
                <a:srgbClr val="DCE0F0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DCE0F0"/>
                </a:solidFill>
                <a:latin typeface="Calibri" panose="020F0502020204030204"/>
              </a:rPr>
              <a:t> then translating the prediction into an interpretable risk level.</a:t>
            </a:r>
            <a:endParaRPr sz="1400" b="0">
              <a:solidFill>
                <a:srgbClr val="DCE0F0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944" y="5733288"/>
            <a:ext cx="1868170" cy="26035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DCE0F0"/>
                </a:solidFill>
                <a:latin typeface="Calibri" panose="020F0502020204030204"/>
              </a:rPr>
              <a:t>Presented by: Team</a:t>
            </a:r>
            <a:r>
              <a:rPr lang="en-US" sz="1100" b="0">
                <a:solidFill>
                  <a:srgbClr val="DCE0F0"/>
                </a:solidFill>
                <a:latin typeface="Calibri" panose="020F0502020204030204"/>
              </a:rPr>
              <a:t> Aarambh</a:t>
            </a:r>
            <a:endParaRPr lang="en-US" sz="1100" b="0">
              <a:solidFill>
                <a:srgbClr val="DCE0F0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467090" y="1819910"/>
            <a:ext cx="2880360" cy="3337560"/>
          </a:xfrm>
          <a:prstGeom prst="roundRect">
            <a:avLst/>
          </a:prstGeom>
          <a:solidFill>
            <a:srgbClr val="273165"/>
          </a:solidFill>
          <a:ln>
            <a:solidFill>
              <a:srgbClr val="43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2221992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8CDE1"/>
                </a:solidFill>
                <a:latin typeface="Calibri" panose="020F0502020204030204"/>
              </a:rPr>
              <a:t>PM2.5</a:t>
            </a:r>
            <a:endParaRPr sz="1200" b="1">
              <a:solidFill>
                <a:srgbClr val="C8CDE1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87968" y="2587752"/>
            <a:ext cx="1920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 panose="020F0502020204030204"/>
              </a:rPr>
              <a:t>54.7</a:t>
            </a:r>
            <a:endParaRPr sz="3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87968" y="3154680"/>
            <a:ext cx="21031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C8CDE1"/>
                </a:solidFill>
                <a:latin typeface="Calibri" panose="020F0502020204030204"/>
              </a:rPr>
              <a:t>mean concentration</a:t>
            </a:r>
            <a:endParaRPr sz="1000" b="0">
              <a:solidFill>
                <a:srgbClr val="C8CDE1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87968" y="3657600"/>
            <a:ext cx="164592" cy="164592"/>
          </a:xfrm>
          <a:prstGeom prst="roundRect">
            <a:avLst/>
          </a:prstGeom>
          <a:solidFill>
            <a:srgbClr val="32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3639312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GOOD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131552" y="3639312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CDD2E6"/>
                </a:solidFill>
                <a:latin typeface="Calibri" panose="020F0502020204030204"/>
              </a:rPr>
              <a:t>≤ 30</a:t>
            </a:r>
            <a:endParaRPr sz="800" b="0">
              <a:solidFill>
                <a:srgbClr val="CDD2E6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87968" y="4014215"/>
            <a:ext cx="164592" cy="164592"/>
          </a:xfrm>
          <a:prstGeom prst="roundRect">
            <a:avLst/>
          </a:prstGeom>
          <a:solidFill>
            <a:srgbClr val="E2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3995928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MODERATE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31552" y="3995928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CDD2E6"/>
                </a:solidFill>
                <a:latin typeface="Calibri" panose="020F0502020204030204"/>
              </a:rPr>
              <a:t>31–60</a:t>
            </a:r>
            <a:endParaRPr sz="800" b="0">
              <a:solidFill>
                <a:srgbClr val="CDD2E6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887968" y="4370832"/>
            <a:ext cx="164592" cy="16459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4352544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POOR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31552" y="4352544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CDD2E6"/>
                </a:solidFill>
                <a:latin typeface="Calibri" panose="020F0502020204030204"/>
              </a:rPr>
              <a:t>61–90</a:t>
            </a:r>
            <a:endParaRPr sz="800" b="0">
              <a:solidFill>
                <a:srgbClr val="CDD2E6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87968" y="4727448"/>
            <a:ext cx="164592" cy="164592"/>
          </a:xfrm>
          <a:prstGeom prst="roundRect">
            <a:avLst/>
          </a:prstGeom>
          <a:solidFill>
            <a:srgbClr val="D24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4709160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SEVERE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131552" y="4709160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CDD2E6"/>
                </a:solidFill>
                <a:latin typeface="Calibri" panose="020F0502020204030204"/>
              </a:rPr>
              <a:t>&gt; 90</a:t>
            </a:r>
            <a:endParaRPr sz="800" b="0">
              <a:solidFill>
                <a:srgbClr val="CDD2E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INTRODUCTION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Project Introduction &amp; Objective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02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THE PROBLEM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4395470" cy="73723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1F2857"/>
                </a:solidFill>
                <a:latin typeface="Calibri" panose="020F0502020204030204"/>
              </a:rPr>
              <a:t>Air pollution risk is driven by multiple </a:t>
            </a:r>
            <a:endParaRPr sz="2100" b="1">
              <a:solidFill>
                <a:srgbClr val="1F2857"/>
              </a:solidFill>
              <a:latin typeface="Calibri" panose="020F0502020204030204"/>
            </a:endParaRPr>
          </a:p>
          <a:p>
            <a:pPr algn="l"/>
            <a:r>
              <a:rPr sz="2100" b="1">
                <a:solidFill>
                  <a:srgbClr val="1F2857"/>
                </a:solidFill>
                <a:latin typeface="Calibri" panose="020F0502020204030204"/>
              </a:rPr>
              <a:t>interacting factors.</a:t>
            </a:r>
            <a:endParaRPr sz="2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3039237"/>
            <a:ext cx="4526280" cy="2360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F283C"/>
                </a:solidFill>
                <a:latin typeface="Calibri" panose="020F0502020204030204"/>
              </a:defRPr>
            </a:pPr>
          </a:p>
          <a:p>
            <a:pPr>
              <a:lnSpc>
                <a:spcPct val="150000"/>
              </a:lnSpc>
              <a:spcAft>
                <a:spcPts val="700"/>
              </a:spcAft>
              <a:defRPr sz="1300">
                <a:solidFill>
                  <a:srgbClr val="1F283C"/>
                </a:solidFill>
                <a:latin typeface="Calibri" panose="020F0502020204030204"/>
              </a:defRPr>
            </a:pPr>
            <a:r>
              <a:t>• PM2.5 is the target variable and the main output of the forecasting pipeline.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300">
                <a:solidFill>
                  <a:srgbClr val="1F283C"/>
                </a:solidFill>
                <a:latin typeface="Calibri" panose="020F0502020204030204"/>
              </a:defRPr>
            </a:pPr>
            <a:r>
              <a:t>• Other pollutant readings and weather conditions are used as predictive inputs.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300">
                <a:solidFill>
                  <a:srgbClr val="1F283C"/>
                </a:solidFill>
                <a:latin typeface="Calibri" panose="020F0502020204030204"/>
              </a:defRPr>
            </a:pPr>
            <a:r>
              <a:t>• A numerical PM2.5 prediction is converted into a simple risk category: Good, Moderate, Poor or Severe.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27632"/>
            <a:ext cx="5422392" cy="425196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01952"/>
            <a:ext cx="2286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PROJECT OBJECTIVE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258568"/>
            <a:ext cx="4718685" cy="73723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1F2857"/>
                </a:solidFill>
                <a:latin typeface="Calibri" panose="020F0502020204030204"/>
              </a:rPr>
              <a:t>Build a complete, explainable forecasting</a:t>
            </a:r>
            <a:endParaRPr sz="2100" b="1">
              <a:solidFill>
                <a:srgbClr val="1F2857"/>
              </a:solidFill>
              <a:latin typeface="Calibri" panose="020F0502020204030204"/>
            </a:endParaRPr>
          </a:p>
          <a:p>
            <a:pPr algn="l"/>
            <a:r>
              <a:rPr sz="2100" b="1">
                <a:solidFill>
                  <a:srgbClr val="1F2857"/>
                </a:solidFill>
                <a:latin typeface="Calibri" panose="020F0502020204030204"/>
              </a:rPr>
              <a:t> workflow</a:t>
            </a:r>
            <a:endParaRPr sz="2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3063240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01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31152" y="3044952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Prepare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18120" y="3044952"/>
            <a:ext cx="3246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Inspect, clean and encode the air-quality data.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3675888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02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31152" y="3657600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Explore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18120" y="3657600"/>
            <a:ext cx="3246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Understand PM2.5 distribution and relationships.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4288536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03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31152" y="4270248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Predict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18120" y="4270248"/>
            <a:ext cx="3246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Compare four regression approaches.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6520" y="4901184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04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31152" y="4882896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Interpret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18120" y="4882896"/>
            <a:ext cx="3246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Explain the best ensemble model and classify risk.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PHASE 01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Understanding the Raw Data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03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65376"/>
            <a:ext cx="200253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F2857"/>
                </a:solidFill>
                <a:latin typeface="Calibri" panose="020F0502020204030204"/>
              </a:rPr>
              <a:t>500</a:t>
            </a:r>
            <a:endParaRPr sz="25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" y="2395728"/>
            <a:ext cx="2002536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Records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90672" y="1664208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264" y="1865376"/>
            <a:ext cx="200253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F2857"/>
                </a:solidFill>
                <a:latin typeface="Calibri" panose="020F0502020204030204"/>
              </a:rPr>
              <a:t>14</a:t>
            </a:r>
            <a:endParaRPr sz="25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55264" y="2395728"/>
            <a:ext cx="2002536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Columns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586984" y="1664208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1576" y="1865376"/>
            <a:ext cx="200253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F2857"/>
                </a:solidFill>
                <a:latin typeface="Calibri" panose="020F0502020204030204"/>
              </a:rPr>
              <a:t>11</a:t>
            </a:r>
            <a:endParaRPr sz="25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51576" y="2395728"/>
            <a:ext cx="2002536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Numeric features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83296" y="1664208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65376"/>
            <a:ext cx="200253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F2857"/>
                </a:solidFill>
                <a:latin typeface="Calibri" panose="020F0502020204030204"/>
              </a:rPr>
              <a:t>2</a:t>
            </a:r>
            <a:endParaRPr sz="25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2002536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Categorical fields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3182112"/>
            <a:ext cx="5212080" cy="248716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47288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DATASET STRUCTURE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3822191"/>
            <a:ext cx="822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Target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1640" y="3794760"/>
            <a:ext cx="1005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PM2.5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680" y="425196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Pollutant inputs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84831" y="4224528"/>
            <a:ext cx="3246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1F283C"/>
                </a:solidFill>
                <a:latin typeface="Calibri" panose="020F0502020204030204"/>
              </a:rPr>
              <a:t>PM10 • NOx • NO2 • SO2 • VOCs • CO • CO2 • CH4</a:t>
            </a:r>
            <a:endParaRPr sz="11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80060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Weather / context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84831" y="4773168"/>
            <a:ext cx="32461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1F283C"/>
                </a:solidFill>
                <a:latin typeface="Calibri" panose="020F0502020204030204"/>
              </a:rPr>
              <a:t>Temperature • Humidity • Wind_Direction • Location_Type</a:t>
            </a:r>
            <a:endParaRPr sz="11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53328" y="3182112"/>
            <a:ext cx="553212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447288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INITIAL INSPECTION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36792" y="3703446"/>
            <a:ext cx="4663440" cy="174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All 500 rows are non-null in the raw dataset.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PM2.5, pollutants and weather variables are primarily numeric.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Location_Type and Source_Label are categorical.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Initial inspection exposed physically impossible negative values in NOx, NO2 and SO2.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PHASE 02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Data Quality Assessment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04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640080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1031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WHAT WAS CHECKED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896112" y="2395728"/>
            <a:ext cx="201168" cy="201168"/>
          </a:xfrm>
          <a:prstGeom prst="ellipse">
            <a:avLst/>
          </a:prstGeom>
          <a:solidFill>
            <a:srgbClr val="32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368296"/>
            <a:ext cx="16916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Missing values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6080" y="2368296"/>
            <a:ext cx="36118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0 in the raw dataset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96112" y="2926080"/>
            <a:ext cx="201168" cy="201168"/>
          </a:xfrm>
          <a:prstGeom prst="ellipse">
            <a:avLst/>
          </a:prstGeom>
          <a:solidFill>
            <a:srgbClr val="32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2898648"/>
            <a:ext cx="16916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Duplicate records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6080" y="2898648"/>
            <a:ext cx="36118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Not identified during inspection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96112" y="3456432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429000"/>
            <a:ext cx="16916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Negative concentrations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6080" y="3429000"/>
            <a:ext cx="36118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Found in NOx, NO2 and SO2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96112" y="3986783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959351"/>
            <a:ext cx="16916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Redundant field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26080" y="3959351"/>
            <a:ext cx="36118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Source_Label closely duplicates Location_Type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96112" y="4517136"/>
            <a:ext cx="201168" cy="201168"/>
          </a:xfrm>
          <a:prstGeom prst="ellipse">
            <a:avLst/>
          </a:prstGeom>
          <a:solidFill>
            <a:srgbClr val="E2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4489703"/>
            <a:ext cx="16916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Categorical text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26080" y="4489703"/>
            <a:ext cx="36118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Location_Type requires numeric encoding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96112" y="5047488"/>
            <a:ext cx="201168" cy="201168"/>
          </a:xfrm>
          <a:prstGeom prst="ellipse">
            <a:avLst/>
          </a:prstGeom>
          <a:solidFill>
            <a:srgbClr val="E2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43584" y="5020055"/>
            <a:ext cx="16916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Wind direction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26080" y="5020055"/>
            <a:ext cx="36118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Circular 0–359° representation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242048" y="1664208"/>
            <a:ext cx="4352544" cy="4370832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1920240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WHY THESE ISSUES MATTER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25512" y="2304288"/>
            <a:ext cx="3474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F2857"/>
                </a:solidFill>
                <a:latin typeface="Calibri" panose="020F0502020204030204"/>
              </a:rPr>
              <a:t>Data quality is part of the model.</a:t>
            </a:r>
            <a:endParaRPr sz="20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25512" y="2758313"/>
            <a:ext cx="3520440" cy="220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rPr sz="1400"/>
              <a:t>• Impossible negative pollutant values can distort learned relationships.</a:t>
            </a:r>
            <a:endParaRPr sz="1400"/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rPr sz="1400"/>
              <a:t>• Redundant information adds noise without adding predictive value.</a:t>
            </a:r>
            <a:endParaRPr sz="1400"/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rPr sz="1400"/>
              <a:t>• Categorical and circular variables need suitable representations before modeling.</a:t>
            </a:r>
            <a:endParaRPr sz="1400"/>
          </a:p>
        </p:txBody>
      </p:sp>
      <p:sp>
        <p:nvSpPr>
          <p:cNvPr id="30" name="TextBox 29"/>
          <p:cNvSpPr txBox="1"/>
          <p:nvPr/>
        </p:nvSpPr>
        <p:spPr>
          <a:xfrm>
            <a:off x="7525512" y="5074920"/>
            <a:ext cx="1005840" cy="27559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Key </a:t>
            </a:r>
            <a:r>
              <a:rPr sz="1200" b="1">
                <a:solidFill>
                  <a:srgbClr val="F96167"/>
                </a:solidFill>
                <a:latin typeface="Calibri" panose="020F0502020204030204"/>
              </a:rPr>
              <a:t>takeaway</a:t>
            </a:r>
            <a:endParaRPr sz="12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25512" y="5376672"/>
            <a:ext cx="3520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F2857"/>
                </a:solidFill>
                <a:latin typeface="Calibri" panose="020F0502020204030204"/>
              </a:rPr>
              <a:t>Clean inputs → more trustworthy predictions</a:t>
            </a:r>
            <a:endParaRPr sz="13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PHASE 03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Cleaning &amp; Feature Engineering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05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9933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30352" cy="329184"/>
          </a:xfrm>
          <a:prstGeom prst="roundRect">
            <a:avLst/>
          </a:prstGeom>
          <a:solidFill>
            <a:srgbClr val="1F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5303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9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RAW DATA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072384"/>
            <a:ext cx="166420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500 × 14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0320" y="2724912"/>
            <a:ext cx="310896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961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71216" y="1874519"/>
            <a:ext cx="19933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35808" y="2057400"/>
            <a:ext cx="530352" cy="329184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084831"/>
            <a:ext cx="5303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9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35808" y="2633472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CLEAN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35808" y="3072384"/>
            <a:ext cx="166420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clip impossible negatives
remove redundant field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4608" y="2724912"/>
            <a:ext cx="310896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961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75504" y="1874519"/>
            <a:ext cx="19933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40096" y="2057400"/>
            <a:ext cx="530352" cy="329184"/>
          </a:xfrm>
          <a:prstGeom prst="roundRect">
            <a:avLst/>
          </a:prstGeom>
          <a:solidFill>
            <a:srgbClr val="32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6" y="2084831"/>
            <a:ext cx="5303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9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40096" y="2633472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ENCODE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40096" y="3072384"/>
            <a:ext cx="166420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one-hot Location_Type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68896" y="2724912"/>
            <a:ext cx="310896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961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479792" y="1874519"/>
            <a:ext cx="19933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44383" y="2057400"/>
            <a:ext cx="530352" cy="329184"/>
          </a:xfrm>
          <a:prstGeom prst="roundRect">
            <a:avLst/>
          </a:prstGeom>
          <a:solidFill>
            <a:srgbClr val="E2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44383" y="2084831"/>
            <a:ext cx="5303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9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44383" y="2633472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ENGINEER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44383" y="3072384"/>
            <a:ext cx="166420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sin / cos wind direction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473184" y="2724912"/>
            <a:ext cx="310896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96167"/>
                </a:solidFill>
                <a:latin typeface="Calibri" panose="020F0502020204030204"/>
              </a:rPr>
              <a:t>→</a:t>
            </a:r>
            <a:endParaRPr sz="2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784080" y="1874519"/>
            <a:ext cx="199339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48672" y="2057400"/>
            <a:ext cx="530352" cy="329184"/>
          </a:xfrm>
          <a:prstGeom prst="roundRect">
            <a:avLst/>
          </a:prstGeom>
          <a:solidFill>
            <a:srgbClr val="1F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2084831"/>
            <a:ext cx="5303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9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48672" y="2633472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MODEL-READY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48672" y="3072384"/>
            <a:ext cx="166420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14 features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94360" y="4370832"/>
            <a:ext cx="10972800" cy="138988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617720"/>
            <a:ext cx="2651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CIRCULAR FEATURE ENGINEERING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8680" y="4965192"/>
            <a:ext cx="64008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F283C"/>
                </a:solidFill>
                <a:latin typeface="Calibri" panose="020F0502020204030204"/>
              </a:rPr>
              <a:t>Wind_Direction is measured in degrees, so 359° and 1° are close in reality but far apart numerically.</a:t>
            </a:r>
            <a:endParaRPr sz="12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52360" y="4608576"/>
            <a:ext cx="7315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Solution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52360" y="4928616"/>
            <a:ext cx="20116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F2857"/>
                </a:solidFill>
                <a:latin typeface="Calibri" panose="020F0502020204030204"/>
              </a:rPr>
              <a:t>sin(θ) + cos(θ)</a:t>
            </a:r>
            <a:endParaRPr sz="1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81160" y="4956048"/>
            <a:ext cx="1874519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Then drop the original degree column.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PHASE 04 — EDA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Overall PM2.5 Distribution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06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6995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tebook_plot_13_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74519"/>
            <a:ext cx="6537960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45425" y="1280795"/>
            <a:ext cx="3823970" cy="4845685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499743"/>
            <a:ext cx="21945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WHAT THE DATA SAYS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19872" y="1819910"/>
            <a:ext cx="32004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8929" y="1948053"/>
            <a:ext cx="1699895" cy="47561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500" b="1">
                <a:solidFill>
                  <a:srgbClr val="1F2857"/>
                </a:solidFill>
                <a:latin typeface="Calibri" panose="020F0502020204030204"/>
              </a:rPr>
              <a:t>           </a:t>
            </a:r>
            <a:r>
              <a:rPr sz="2500" b="1">
                <a:solidFill>
                  <a:srgbClr val="1F2857"/>
                </a:solidFill>
                <a:latin typeface="Calibri" panose="020F0502020204030204"/>
              </a:rPr>
              <a:t>54.67</a:t>
            </a:r>
            <a:endParaRPr sz="25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94294" y="2400300"/>
            <a:ext cx="1915160" cy="245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000" b="1">
                <a:solidFill>
                  <a:srgbClr val="5E6578"/>
                </a:solidFill>
                <a:latin typeface="Calibri" panose="020F0502020204030204"/>
              </a:rPr>
              <a:t>                                     </a:t>
            </a:r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Mean PM2.5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3236722"/>
            <a:ext cx="32004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8929" y="3400425"/>
            <a:ext cx="1771650" cy="47561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500" b="1">
                <a:solidFill>
                  <a:srgbClr val="1F2857"/>
                </a:solidFill>
                <a:latin typeface="Calibri" panose="020F0502020204030204"/>
              </a:rPr>
              <a:t>            </a:t>
            </a:r>
            <a:r>
              <a:rPr sz="2500" b="1">
                <a:solidFill>
                  <a:srgbClr val="1F2857"/>
                </a:solidFill>
                <a:latin typeface="Calibri" panose="020F0502020204030204"/>
              </a:rPr>
              <a:t>22.80</a:t>
            </a:r>
            <a:endParaRPr sz="25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48929" y="3840607"/>
            <a:ext cx="1845310" cy="245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000" b="1">
                <a:solidFill>
                  <a:srgbClr val="5E6578"/>
                </a:solidFill>
                <a:latin typeface="Calibri" panose="020F0502020204030204"/>
              </a:rPr>
              <a:t>                       </a:t>
            </a:r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Standard deviation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59090" y="4577080"/>
            <a:ext cx="3613150" cy="1053465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4294" y="4618482"/>
            <a:ext cx="287121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F2857"/>
                </a:solidFill>
                <a:latin typeface="Calibri" panose="020F0502020204030204"/>
              </a:rPr>
              <a:t>10.76 → 127.62</a:t>
            </a:r>
            <a:endParaRPr sz="25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5577" y="5046853"/>
            <a:ext cx="3330575" cy="3987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The target spans a broad range, making accurate continuous 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prediction more useful than a single fixed threshold.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EDA — RELATIONSHIPS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Correlation Analysis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07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7315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tebook_plot_14_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47088"/>
            <a:ext cx="690372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645920"/>
            <a:ext cx="3410712" cy="452628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938528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STRONGEST RELATIONSHIPS WITH PM2.5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58200" y="2606040"/>
            <a:ext cx="822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SO2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81160" y="2642616"/>
            <a:ext cx="1116482" cy="1554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27080" y="2587752"/>
            <a:ext cx="43891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0.740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58200" y="3044952"/>
            <a:ext cx="822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CO2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81160" y="3081528"/>
            <a:ext cx="1102903" cy="1554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27080" y="3026664"/>
            <a:ext cx="43891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0.731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8200" y="3483864"/>
            <a:ext cx="822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PM10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281160" y="3520440"/>
            <a:ext cx="1010869" cy="1554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7080" y="3465576"/>
            <a:ext cx="43891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0.670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58200" y="3922776"/>
            <a:ext cx="822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CH4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281160" y="3959352"/>
            <a:ext cx="1001816" cy="1554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27080" y="3904488"/>
            <a:ext cx="43891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0.664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58200" y="4361688"/>
            <a:ext cx="822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VOCs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281160" y="4398264"/>
            <a:ext cx="936939" cy="1554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27080" y="4343400"/>
            <a:ext cx="43891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0.621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58200" y="4800600"/>
            <a:ext cx="822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NO2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281160" y="4837176"/>
            <a:ext cx="920343" cy="1554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27080" y="4782312"/>
            <a:ext cx="43891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0.610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58200" y="5330317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Interpretation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58200" y="5537962"/>
            <a:ext cx="2787650" cy="55308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Several pollutant concentrations move strongly 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with PM2.5, supporting a multivariable regression 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approach.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PHASE 05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Modeling Strategy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08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794760" cy="4251960"/>
          </a:xfrm>
          <a:prstGeom prst="roundRect">
            <a:avLst/>
          </a:prstGeom>
          <a:solidFill>
            <a:srgbClr val="1F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TARGET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182880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 panose="020F0502020204030204"/>
              </a:rPr>
              <a:t>PM2.5</a:t>
            </a:r>
            <a:endParaRPr sz="30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2852928"/>
            <a:ext cx="2651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7DCEC"/>
                </a:solidFill>
                <a:latin typeface="Calibri" panose="020F0502020204030204"/>
              </a:rPr>
              <a:t>Continuous regression problem</a:t>
            </a:r>
            <a:endParaRPr sz="1300" b="0">
              <a:solidFill>
                <a:srgbClr val="D7DCE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3529584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Train / Test Split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3867912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400 training records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4297680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100 test records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4846320"/>
            <a:ext cx="2468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D7DCEC"/>
                </a:solidFill>
                <a:latin typeface="Calibri" panose="020F0502020204030204"/>
              </a:rPr>
              <a:t>80% / 20%</a:t>
            </a:r>
            <a:endParaRPr sz="1200" b="1">
              <a:solidFill>
                <a:srgbClr val="D7DCEC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81728" y="1691640"/>
            <a:ext cx="6912864" cy="425196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1993392"/>
            <a:ext cx="2926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FOUR REGRESSION APPROACHES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74336" y="2514600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01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04688" y="2496312"/>
            <a:ext cx="2057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Linear Regression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2505456"/>
            <a:ext cx="34290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Baseline — simple, interpretable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74336" y="3227832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02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04688" y="3209544"/>
            <a:ext cx="2057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Random Forest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35240" y="3218688"/>
            <a:ext cx="34290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Ensemble of decision trees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74336" y="3941064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03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04688" y="3922776"/>
            <a:ext cx="2057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Gradient Boosting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35240" y="3931920"/>
            <a:ext cx="34290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Sequentially improves weak learners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74336" y="4654296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04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04688" y="4636008"/>
            <a:ext cx="2057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XGBoost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35240" y="4645152"/>
            <a:ext cx="34290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Optimized gradient-boosting implementation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74336" y="5468112"/>
            <a:ext cx="1280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Evaluation metrics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27648" y="5431536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F2857"/>
                </a:solidFill>
                <a:latin typeface="Calibri" panose="020F0502020204030204"/>
              </a:rPr>
              <a:t>RMSE  •  MAE  •  R²</a:t>
            </a:r>
            <a:endParaRPr sz="13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PHASE 06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Model Performance Comparison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09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6903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2286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MODEL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9039" y="2084831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RMSE ↓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92040" y="2084831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MAE ↓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2084831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E6578"/>
                </a:solidFill>
                <a:latin typeface="Calibri" panose="020F0502020204030204"/>
              </a:rPr>
              <a:t>R² ↑</a:t>
            </a:r>
            <a:endParaRPr sz="10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8680" y="2871216"/>
            <a:ext cx="5989320" cy="1371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606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F2857"/>
                </a:solidFill>
                <a:latin typeface="Calibri" panose="020F0502020204030204"/>
              </a:rPr>
              <a:t>Linear Regression</a:t>
            </a:r>
            <a:endParaRPr sz="13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49039" y="2514600"/>
            <a:ext cx="1051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 panose="020F0502020204030204"/>
              </a:rPr>
              <a:t>13.395</a:t>
            </a:r>
            <a:endParaRPr sz="12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92040" y="2514600"/>
            <a:ext cx="1051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F283C"/>
                </a:solidFill>
                <a:latin typeface="Calibri" panose="020F0502020204030204"/>
              </a:rPr>
              <a:t>10.131</a:t>
            </a:r>
            <a:endParaRPr sz="12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35040" y="2514600"/>
            <a:ext cx="822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F283C"/>
                </a:solidFill>
                <a:latin typeface="Calibri" panose="020F0502020204030204"/>
              </a:rPr>
              <a:t>0.683</a:t>
            </a:r>
            <a:endParaRPr sz="12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8680" y="3566160"/>
            <a:ext cx="5989320" cy="1371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09544"/>
            <a:ext cx="2606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F2857"/>
                </a:solidFill>
                <a:latin typeface="Calibri" panose="020F0502020204030204"/>
              </a:rPr>
              <a:t>Gradient Boosting</a:t>
            </a:r>
            <a:endParaRPr sz="13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49039" y="3209544"/>
            <a:ext cx="1051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32966E"/>
                </a:solidFill>
                <a:latin typeface="Calibri" panose="020F0502020204030204"/>
              </a:rPr>
              <a:t>13.599</a:t>
            </a:r>
            <a:endParaRPr sz="1200" b="1">
              <a:solidFill>
                <a:srgbClr val="32966E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92040" y="3209544"/>
            <a:ext cx="1051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F283C"/>
                </a:solidFill>
                <a:latin typeface="Calibri" panose="020F0502020204030204"/>
              </a:rPr>
              <a:t>10.891</a:t>
            </a:r>
            <a:endParaRPr sz="12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35040" y="3209544"/>
            <a:ext cx="822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F283C"/>
                </a:solidFill>
                <a:latin typeface="Calibri" panose="020F0502020204030204"/>
              </a:rPr>
              <a:t>0.673</a:t>
            </a:r>
            <a:endParaRPr sz="12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68680" y="4261103"/>
            <a:ext cx="5989320" cy="1371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04487"/>
            <a:ext cx="2606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1F2857"/>
                </a:solidFill>
                <a:latin typeface="Calibri" panose="020F0502020204030204"/>
              </a:rPr>
              <a:t>Random Forest</a:t>
            </a:r>
            <a:endParaRPr sz="1300" b="0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49039" y="3904487"/>
            <a:ext cx="1051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13.852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92040" y="3904487"/>
            <a:ext cx="1051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F283C"/>
                </a:solidFill>
                <a:latin typeface="Calibri" panose="020F0502020204030204"/>
              </a:rPr>
              <a:t>10.978</a:t>
            </a:r>
            <a:endParaRPr sz="12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0" y="3904487"/>
            <a:ext cx="822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F283C"/>
                </a:solidFill>
                <a:latin typeface="Calibri" panose="020F0502020204030204"/>
              </a:rPr>
              <a:t>0.661</a:t>
            </a:r>
            <a:endParaRPr sz="12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8680" y="4956048"/>
            <a:ext cx="5989320" cy="1371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99432"/>
            <a:ext cx="2606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1F2857"/>
                </a:solidFill>
                <a:latin typeface="Calibri" panose="020F0502020204030204"/>
              </a:rPr>
              <a:t>XGBoost</a:t>
            </a:r>
            <a:endParaRPr sz="1300" b="0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49039" y="4599432"/>
            <a:ext cx="1051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E6578"/>
                </a:solidFill>
                <a:latin typeface="Calibri" panose="020F0502020204030204"/>
              </a:rPr>
              <a:t>14.527</a:t>
            </a:r>
            <a:endParaRPr sz="12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92040" y="4599432"/>
            <a:ext cx="1051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F283C"/>
                </a:solidFill>
                <a:latin typeface="Calibri" panose="020F0502020204030204"/>
              </a:rPr>
              <a:t>11.258</a:t>
            </a:r>
            <a:endParaRPr sz="12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35040" y="4599432"/>
            <a:ext cx="822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F283C"/>
                </a:solidFill>
                <a:latin typeface="Calibri" panose="020F0502020204030204"/>
              </a:rPr>
              <a:t>0.627</a:t>
            </a:r>
            <a:endParaRPr sz="12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790688" y="1691640"/>
            <a:ext cx="3803904" cy="4343400"/>
          </a:xfrm>
          <a:prstGeom prst="roundRect">
            <a:avLst/>
          </a:prstGeom>
          <a:solidFill>
            <a:srgbClr val="1F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1993392"/>
            <a:ext cx="2926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THE IMPORTANT DISTINCTION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92440" y="2487168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DD3E8"/>
                </a:solidFill>
                <a:latin typeface="Calibri" panose="020F0502020204030204"/>
              </a:rPr>
              <a:t>Best overall score</a:t>
            </a:r>
            <a:endParaRPr sz="1200" b="1">
              <a:solidFill>
                <a:srgbClr val="CDD3E8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92440" y="2834640"/>
            <a:ext cx="2743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 panose="020F0502020204030204"/>
              </a:rPr>
              <a:t>Linear Regression</a:t>
            </a:r>
            <a:endParaRPr sz="2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92440" y="3547872"/>
            <a:ext cx="2743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CDD3E8"/>
                </a:solidFill>
                <a:latin typeface="Calibri" panose="020F0502020204030204"/>
              </a:rPr>
              <a:t>Best among the three required ensemble models</a:t>
            </a:r>
            <a:endParaRPr sz="1200" b="0">
              <a:solidFill>
                <a:srgbClr val="CDD3E8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92440" y="4187952"/>
            <a:ext cx="2743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 panose="020F0502020204030204"/>
              </a:rPr>
              <a:t>Gradient Boosting</a:t>
            </a:r>
            <a:endParaRPr sz="2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92440" y="4709160"/>
            <a:ext cx="3235325" cy="4603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CDD3E8"/>
                </a:solidFill>
                <a:latin typeface="Calibri" panose="020F0502020204030204"/>
              </a:rPr>
              <a:t>Selected automatically by lowest RMSE among</a:t>
            </a:r>
            <a:endParaRPr sz="1200" b="0">
              <a:solidFill>
                <a:srgbClr val="CDD3E8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CDD3E8"/>
                </a:solidFill>
                <a:latin typeface="Calibri" panose="020F0502020204030204"/>
              </a:rPr>
              <a:t> Random Forest</a:t>
            </a:r>
            <a:r>
              <a:rPr lang="en-US" sz="1200" b="0">
                <a:solidFill>
                  <a:srgbClr val="CDD3E8"/>
                </a:solidFill>
                <a:latin typeface="Calibri" panose="020F0502020204030204"/>
              </a:rPr>
              <a:t> </a:t>
            </a:r>
            <a:r>
              <a:rPr sz="1200" b="0">
                <a:solidFill>
                  <a:srgbClr val="CDD3E8"/>
                </a:solidFill>
                <a:latin typeface="Calibri" panose="020F0502020204030204"/>
              </a:rPr>
              <a:t>, Gradient Boosting and XGBoost.</a:t>
            </a:r>
            <a:endParaRPr sz="1200" b="0">
              <a:solidFill>
                <a:srgbClr val="CDD3E8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MODEL SELECTION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Why Gradient Boosting?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10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4983480" cy="429768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14630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SELECTION RULE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32004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F2857"/>
                </a:solidFill>
                <a:latin typeface="Calibri" panose="020F0502020204030204"/>
              </a:rPr>
              <a:t>Lowest RMSE wins.</a:t>
            </a:r>
            <a:endParaRPr sz="25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2907792"/>
            <a:ext cx="4100195" cy="69151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83C"/>
                </a:solidFill>
                <a:latin typeface="Calibri" panose="020F0502020204030204"/>
              </a:rPr>
              <a:t>The notebook compares the three main ensemble models </a:t>
            </a:r>
            <a:endParaRPr sz="1300" b="0">
              <a:solidFill>
                <a:srgbClr val="1F283C"/>
              </a:solidFill>
              <a:latin typeface="Calibri" panose="020F0502020204030204"/>
            </a:endParaRP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83C"/>
                </a:solidFill>
                <a:latin typeface="Calibri" panose="020F0502020204030204"/>
              </a:rPr>
              <a:t>and selects the one with the smallest test-set RMSE.</a:t>
            </a:r>
            <a:endParaRPr sz="1300" b="0">
              <a:solidFill>
                <a:srgbClr val="1F283C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" y="3867912"/>
            <a:ext cx="4160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60520"/>
            <a:ext cx="20116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F2857"/>
                </a:solidFill>
                <a:latin typeface="Calibri" panose="020F0502020204030204"/>
              </a:rPr>
              <a:t>Gradient Boosting</a:t>
            </a:r>
            <a:endParaRPr sz="16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4617720"/>
            <a:ext cx="35204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5E6578"/>
                </a:solidFill>
                <a:latin typeface="Calibri" panose="020F0502020204030204"/>
              </a:rPr>
              <a:t>RMSE = 13.5985  •  MAE = 10.8912  •  R² = 0.6734</a:t>
            </a:r>
            <a:endParaRPr sz="10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70448" y="1691640"/>
            <a:ext cx="5715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65960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MODELING NOTE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2200" y="2395728"/>
            <a:ext cx="4709160" cy="2299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No hyperparameter tuning was applied in the notebook.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RandomizedSearchCV is imported, but the final workflow uses the trained default model settings.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This keeps the comparison transparent and reproducible for the presentation.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The selected model is then used for feature-importance interpretation and risk classification.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846320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Interpretability layer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72200" y="5148072"/>
            <a:ext cx="4572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F2857"/>
                </a:solidFill>
                <a:latin typeface="Calibri" panose="020F0502020204030204"/>
              </a:rPr>
              <a:t>Feature importance → explains what drives PM2.5 predictions</a:t>
            </a:r>
            <a:endParaRPr sz="13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PHASE 07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Feature Importance — The Intelligence Layer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11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745236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tebook_plot_31_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699516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47888" y="1664208"/>
            <a:ext cx="3346704" cy="449884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22208" y="1938528"/>
            <a:ext cx="14630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TOP DRIVERS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22208" y="2487168"/>
            <a:ext cx="1600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CO2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25328" y="2487168"/>
            <a:ext cx="594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5E6578"/>
                </a:solidFill>
                <a:latin typeface="Calibri" panose="020F0502020204030204"/>
              </a:rPr>
              <a:t>~0.70</a:t>
            </a:r>
            <a:endParaRPr sz="11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22208" y="3017520"/>
            <a:ext cx="1600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CH4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25328" y="3017520"/>
            <a:ext cx="594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5E6578"/>
                </a:solidFill>
                <a:latin typeface="Calibri" panose="020F0502020204030204"/>
              </a:rPr>
              <a:t>~0.04</a:t>
            </a:r>
            <a:endParaRPr sz="11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22208" y="3547872"/>
            <a:ext cx="1600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Humidity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25328" y="3547872"/>
            <a:ext cx="594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5E6578"/>
                </a:solidFill>
                <a:latin typeface="Calibri" panose="020F0502020204030204"/>
              </a:rPr>
              <a:t>~0.04</a:t>
            </a:r>
            <a:endParaRPr sz="11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22208" y="4078224"/>
            <a:ext cx="1600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NOx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25328" y="4078224"/>
            <a:ext cx="594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5E6578"/>
                </a:solidFill>
                <a:latin typeface="Calibri" panose="020F0502020204030204"/>
              </a:rPr>
              <a:t>~0.04</a:t>
            </a:r>
            <a:endParaRPr sz="11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22208" y="4608576"/>
            <a:ext cx="1600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F2857"/>
                </a:solidFill>
                <a:latin typeface="Calibri" panose="020F0502020204030204"/>
              </a:rPr>
              <a:t>Wind_dir_cos</a:t>
            </a:r>
            <a:endParaRPr sz="12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25328" y="4608576"/>
            <a:ext cx="594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5E6578"/>
                </a:solidFill>
                <a:latin typeface="Calibri" panose="020F0502020204030204"/>
              </a:rPr>
              <a:t>~0.03</a:t>
            </a:r>
            <a:endParaRPr sz="1100" b="1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22208" y="5047488"/>
            <a:ext cx="98171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 panose="020F0502020204030204"/>
              </a:rPr>
              <a:t>Key insight</a:t>
            </a:r>
            <a:endParaRPr sz="14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22208" y="5483098"/>
            <a:ext cx="2917825" cy="4603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CO2 dominates the fitted Gradient Boosting 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feature-importance ranking in this dataset.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PHASE 08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From PM2.5 Prediction to Risk Forecast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12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6400800" cy="4434840"/>
          </a:xfrm>
          <a:prstGeom prst="roundRect">
            <a:avLst/>
          </a:prstGeom>
          <a:solidFill>
            <a:srgbClr val="1F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THE FORECASTING OUTPUT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2377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CDD3E8"/>
                </a:solidFill>
                <a:latin typeface="Calibri" panose="020F0502020204030204"/>
              </a:rPr>
              <a:t>Predicted PM2.5</a:t>
            </a:r>
            <a:endParaRPr sz="1200" b="1">
              <a:solidFill>
                <a:srgbClr val="CDD3E8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0440" y="2322576"/>
            <a:ext cx="502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F96167"/>
                </a:solidFill>
                <a:latin typeface="Calibri" panose="020F0502020204030204"/>
              </a:rPr>
              <a:t>→</a:t>
            </a:r>
            <a:endParaRPr sz="25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60520" y="2395728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Risk Category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6112" y="3017520"/>
            <a:ext cx="1417320" cy="393192"/>
          </a:xfrm>
          <a:prstGeom prst="roundRect">
            <a:avLst/>
          </a:prstGeom>
          <a:solidFill>
            <a:srgbClr val="32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99815"/>
            <a:ext cx="12344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GOOD</a:t>
            </a:r>
            <a:endParaRPr sz="9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78608" y="3072384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≤ 30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3320" y="3081527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CDD3E8"/>
                </a:solidFill>
                <a:latin typeface="Calibri" panose="020F0502020204030204"/>
              </a:rPr>
              <a:t>lower-risk band</a:t>
            </a:r>
            <a:endParaRPr sz="1000" b="0">
              <a:solidFill>
                <a:srgbClr val="CDD3E8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6112" y="3639312"/>
            <a:ext cx="1417320" cy="393192"/>
          </a:xfrm>
          <a:prstGeom prst="roundRect">
            <a:avLst/>
          </a:prstGeom>
          <a:solidFill>
            <a:srgbClr val="E2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21608"/>
            <a:ext cx="12344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MODERATE</a:t>
            </a:r>
            <a:endParaRPr sz="9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3694176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31–60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03320" y="3703320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CDD3E8"/>
                </a:solidFill>
                <a:latin typeface="Calibri" panose="020F0502020204030204"/>
              </a:rPr>
              <a:t>intermediate-risk band</a:t>
            </a:r>
            <a:endParaRPr sz="1000" b="0">
              <a:solidFill>
                <a:srgbClr val="CDD3E8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" y="4261104"/>
            <a:ext cx="1417320" cy="39319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343400"/>
            <a:ext cx="12344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POOR</a:t>
            </a:r>
            <a:endParaRPr sz="9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78608" y="431596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61–90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03320" y="4325112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CDD3E8"/>
                </a:solidFill>
                <a:latin typeface="Calibri" panose="020F0502020204030204"/>
              </a:rPr>
              <a:t>elevated-risk band</a:t>
            </a:r>
            <a:endParaRPr sz="1000" b="0">
              <a:solidFill>
                <a:srgbClr val="CDD3E8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6112" y="4882896"/>
            <a:ext cx="1417320" cy="393192"/>
          </a:xfrm>
          <a:prstGeom prst="roundRect">
            <a:avLst/>
          </a:prstGeom>
          <a:solidFill>
            <a:srgbClr val="D24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965192"/>
            <a:ext cx="12344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SEVERE</a:t>
            </a:r>
            <a:endParaRPr sz="9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78608" y="4937759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&gt; 90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03320" y="4946904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CDD3E8"/>
                </a:solidFill>
                <a:latin typeface="Calibri" panose="020F0502020204030204"/>
              </a:rPr>
              <a:t>highest-risk band</a:t>
            </a:r>
            <a:endParaRPr sz="1000" b="0">
              <a:solidFill>
                <a:srgbClr val="CDD3E8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296912" y="1691640"/>
            <a:ext cx="4297680" cy="443484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99339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WHY THIS MATTERS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89520" y="2395728"/>
            <a:ext cx="3590925" cy="73723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1F2857"/>
                </a:solidFill>
                <a:latin typeface="Calibri" panose="020F0502020204030204"/>
              </a:rPr>
              <a:t>A regression number becomes </a:t>
            </a:r>
            <a:endParaRPr sz="2100" b="1">
              <a:solidFill>
                <a:srgbClr val="1F2857"/>
              </a:solidFill>
              <a:latin typeface="Calibri" panose="020F0502020204030204"/>
            </a:endParaRPr>
          </a:p>
          <a:p>
            <a:pPr algn="l"/>
            <a:r>
              <a:rPr sz="2100" b="1">
                <a:solidFill>
                  <a:srgbClr val="1F2857"/>
                </a:solidFill>
                <a:latin typeface="Calibri" panose="020F0502020204030204"/>
              </a:rPr>
              <a:t>a decision-friendly signal.</a:t>
            </a:r>
            <a:endParaRPr sz="2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89520" y="3224530"/>
            <a:ext cx="3429000" cy="1655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The model predicts a continuous PM2.5 value.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The predicted value is mapped to one of four risk levels.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200">
                <a:solidFill>
                  <a:srgbClr val="1F283C"/>
                </a:solidFill>
                <a:latin typeface="Calibri" panose="020F0502020204030204"/>
              </a:defRPr>
            </a:pPr>
            <a:r>
              <a:t>• This creates the final 'risk intelligence' layer of the project.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088890"/>
            <a:ext cx="2245995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 panose="020F0502020204030204"/>
              </a:rPr>
              <a:t>Example from the notebook</a:t>
            </a:r>
            <a:endParaRPr sz="14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89520" y="5471922"/>
            <a:ext cx="29260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F2857"/>
                </a:solidFill>
                <a:latin typeface="Calibri" panose="020F0502020204030204"/>
              </a:rPr>
              <a:t>Predicted 81.23 → Poor</a:t>
            </a:r>
            <a:endParaRPr sz="15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06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 panose="020F0502020204030204"/>
              </a:rPr>
              <a:t>SYNTHESIS</a:t>
            </a:r>
            <a:endParaRPr sz="11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Key Findings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13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2578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65376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01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4168" y="1828800"/>
            <a:ext cx="1080135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Data quality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44168" y="2167128"/>
            <a:ext cx="4441825" cy="27559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500 records were available with no missing values in the raw dataset.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5352" y="1664208"/>
            <a:ext cx="52578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65376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02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95160" y="1828800"/>
            <a:ext cx="132969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Target behavior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95160" y="2167128"/>
            <a:ext cx="3792855" cy="4603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PM2.5 has a mean of 54.67 and a broad observed range of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 10.76–127.62.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3108960"/>
            <a:ext cx="52578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31012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03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44168" y="3273552"/>
            <a:ext cx="1202055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Strong signals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44168" y="3611880"/>
            <a:ext cx="4253230" cy="4603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SO2, CO2, PM10 and CH4 show the strongest positive correlations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 with PM2.5.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45352" y="3108960"/>
            <a:ext cx="52578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04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95160" y="3273552"/>
            <a:ext cx="112522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Model result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95160" y="3611880"/>
            <a:ext cx="4243070" cy="4603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Linear Regression has the best overall RMSE; Gradient Boosting is 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best among the three required ensembles.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4553712"/>
            <a:ext cx="52578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754880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05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44168" y="4718304"/>
            <a:ext cx="155067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Model intelligence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44168" y="5056632"/>
            <a:ext cx="4045585" cy="4603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CO2 is by far the largest feature-importance contributor in the 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selected Gradient Boosting model.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45352" y="4553712"/>
            <a:ext cx="52578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754880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06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95160" y="4718304"/>
            <a:ext cx="1028065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Risk output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95160" y="5056632"/>
            <a:ext cx="3895090" cy="4603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Predicted PM2.5 is translated into Good / Moderate / Poor /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5E6578"/>
                </a:solidFill>
                <a:latin typeface="Calibri" panose="020F0502020204030204"/>
              </a:rPr>
              <a:t> Severe categories.</a:t>
            </a:r>
            <a:endParaRPr sz="12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4360" y="6053328"/>
            <a:ext cx="10972800" cy="164592"/>
          </a:xfrm>
          <a:prstGeom prst="rect">
            <a:avLst/>
          </a:prstGeom>
          <a:solidFill>
            <a:srgbClr val="1F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6078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 panose="020F0502020204030204"/>
              </a:rPr>
              <a:t>CONCLUSION</a:t>
            </a:r>
            <a:endParaRPr sz="14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F2857"/>
                </a:solidFill>
                <a:latin typeface="Calibri" panose="020F0502020204030204"/>
              </a:rPr>
              <a:t>From Raw Readings to Risk Intelligence</a:t>
            </a:r>
            <a:endParaRPr sz="27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58368" cy="502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5E6578"/>
                </a:solidFill>
                <a:latin typeface="Calibri" panose="020F0502020204030204"/>
              </a:rPr>
              <a:t>14</a:t>
            </a:r>
            <a:endParaRPr sz="900" b="0">
              <a:solidFill>
                <a:srgbClr val="5E6578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6537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E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167259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 panose="020F0502020204030204"/>
              </a:rPr>
              <a:t>COMPLETE PIPELINE</a:t>
            </a:r>
            <a:endParaRPr sz="14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 panose="020F0502020204030204"/>
              </a:rPr>
              <a:t>01</a:t>
            </a:r>
            <a:endParaRPr sz="9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35024" y="2468880"/>
            <a:ext cx="23774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Inspect the dataset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9352" y="2487168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 panose="020F0502020204030204"/>
              </a:rPr>
              <a:t>02</a:t>
            </a:r>
            <a:endParaRPr sz="9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98264" y="2468880"/>
            <a:ext cx="23774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Clean impossible / redundant fields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3200400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 panose="020F0502020204030204"/>
              </a:rPr>
              <a:t>03</a:t>
            </a:r>
            <a:endParaRPr sz="9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35024" y="3182112"/>
            <a:ext cx="1994535" cy="26035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Encode categorical information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9352" y="3200400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 panose="020F0502020204030204"/>
              </a:rPr>
              <a:t>04</a:t>
            </a:r>
            <a:endParaRPr sz="9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98264" y="3182112"/>
            <a:ext cx="23774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Engineer circular wind features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112" y="3913632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 panose="020F0502020204030204"/>
              </a:rPr>
              <a:t>05</a:t>
            </a:r>
            <a:endParaRPr sz="9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35024" y="3895344"/>
            <a:ext cx="23774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Explore PM2.5 relationships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9352" y="3913632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 panose="020F0502020204030204"/>
              </a:rPr>
              <a:t>06</a:t>
            </a:r>
            <a:endParaRPr sz="9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98264" y="3895344"/>
            <a:ext cx="23774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Train and compare regressors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6112" y="4626864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 panose="020F0502020204030204"/>
              </a:rPr>
              <a:t>07</a:t>
            </a:r>
            <a:endParaRPr sz="9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35024" y="4608576"/>
            <a:ext cx="23774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Interpret the selected model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59352" y="4626864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 panose="020F0502020204030204"/>
              </a:rPr>
              <a:t>08</a:t>
            </a:r>
            <a:endParaRPr sz="9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98264" y="4608576"/>
            <a:ext cx="23774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F2857"/>
                </a:solidFill>
                <a:latin typeface="Calibri" panose="020F0502020204030204"/>
              </a:rPr>
              <a:t>Forecast risk category</a:t>
            </a:r>
            <a:endParaRPr sz="11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88352" y="1691640"/>
            <a:ext cx="4206240" cy="434340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1975104"/>
            <a:ext cx="220345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 panose="020F0502020204030204"/>
              </a:rPr>
              <a:t>LIMITATIONS &amp; NEXT STEPS</a:t>
            </a:r>
            <a:endParaRPr sz="14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80960" y="2423160"/>
            <a:ext cx="3401568" cy="257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100">
                <a:solidFill>
                  <a:srgbClr val="1F283C"/>
                </a:solidFill>
                <a:latin typeface="Calibri" panose="020F0502020204030204"/>
              </a:defRPr>
            </a:pPr>
            <a:r>
              <a:rPr sz="1200"/>
              <a:t>• The dataset contains only 500 records, so additional data would strengthen generalization.</a:t>
            </a:r>
            <a:endParaRPr sz="1200"/>
          </a:p>
          <a:p>
            <a:pPr>
              <a:lnSpc>
                <a:spcPct val="150000"/>
              </a:lnSpc>
              <a:spcAft>
                <a:spcPts val="700"/>
              </a:spcAft>
              <a:defRPr sz="1100">
                <a:solidFill>
                  <a:srgbClr val="1F283C"/>
                </a:solidFill>
                <a:latin typeface="Calibri" panose="020F0502020204030204"/>
              </a:defRPr>
            </a:pPr>
            <a:r>
              <a:rPr sz="1200"/>
              <a:t>• No hyperparameter tuning was performed in the current notebook.</a:t>
            </a:r>
            <a:endParaRPr sz="1200"/>
          </a:p>
          <a:p>
            <a:pPr>
              <a:lnSpc>
                <a:spcPct val="150000"/>
              </a:lnSpc>
              <a:spcAft>
                <a:spcPts val="700"/>
              </a:spcAft>
              <a:defRPr sz="1100">
                <a:solidFill>
                  <a:srgbClr val="1F283C"/>
                </a:solidFill>
                <a:latin typeface="Calibri" panose="020F0502020204030204"/>
              </a:defRPr>
            </a:pPr>
            <a:r>
              <a:rPr sz="1200"/>
              <a:t>• Risk labels are produced by the implemented PM2.5 thresholds.</a:t>
            </a:r>
            <a:endParaRPr sz="1200"/>
          </a:p>
          <a:p>
            <a:pPr>
              <a:lnSpc>
                <a:spcPct val="150000"/>
              </a:lnSpc>
              <a:spcAft>
                <a:spcPts val="700"/>
              </a:spcAft>
              <a:defRPr sz="1100">
                <a:solidFill>
                  <a:srgbClr val="1F283C"/>
                </a:solidFill>
                <a:latin typeface="Calibri" panose="020F0502020204030204"/>
              </a:defRPr>
            </a:pPr>
            <a:r>
              <a:rPr sz="1200"/>
              <a:t>• Next improvement: tune models and validate on a larger, independent dataset.</a:t>
            </a:r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7680960" y="5066538"/>
            <a:ext cx="925830" cy="27559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 panose="020F0502020204030204"/>
              </a:rPr>
              <a:t>Bottom line</a:t>
            </a:r>
            <a:endParaRPr sz="12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80960" y="5358130"/>
            <a:ext cx="33375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F2857"/>
                </a:solidFill>
                <a:latin typeface="Calibri" panose="020F0502020204030204"/>
              </a:rPr>
              <a:t>Prediction + explanation + risk category</a:t>
            </a:r>
            <a:endParaRPr sz="1400" b="1">
              <a:solidFill>
                <a:srgbClr val="1F2857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36576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5E6578"/>
                </a:solidFill>
                <a:latin typeface="Calibri" panose="020F0502020204030204"/>
              </a:rPr>
              <a:t>POLLUTION RISK FORECASTING</a:t>
            </a:r>
            <a:endParaRPr sz="800" b="1">
              <a:solidFill>
                <a:srgbClr val="5E657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32688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 panose="020F0502020204030204"/>
              </a:rPr>
              <a:t>FINAL TAKEAWAY</a:t>
            </a:r>
            <a:endParaRPr sz="12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1481328"/>
            <a:ext cx="9875520" cy="1234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 panose="020F0502020204030204"/>
              </a:rPr>
              <a:t>Turning air-quality readings
into an understandable risk signal.</a:t>
            </a:r>
            <a:endParaRPr sz="3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3108960"/>
            <a:ext cx="93268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D7DCEC"/>
                </a:solidFill>
                <a:latin typeface="Calibri" panose="020F0502020204030204"/>
              </a:rPr>
              <a:t>A complete workflow: data quality → feature engineering → EDA → model comparison → explainability → risk forecasting</a:t>
            </a:r>
            <a:endParaRPr sz="1700" b="0">
              <a:solidFill>
                <a:srgbClr val="D7DCEC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94944" y="4251960"/>
            <a:ext cx="3383280" cy="1234440"/>
          </a:xfrm>
          <a:prstGeom prst="roundRect">
            <a:avLst/>
          </a:prstGeom>
          <a:solidFill>
            <a:srgbClr val="273165"/>
          </a:solidFill>
          <a:ln>
            <a:solidFill>
              <a:srgbClr val="43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498848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PREDICT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846320"/>
            <a:ext cx="290779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PM2.5 from pollutant + weather inputs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2272" y="4251960"/>
            <a:ext cx="3383280" cy="1234440"/>
          </a:xfrm>
          <a:prstGeom prst="roundRect">
            <a:avLst/>
          </a:prstGeom>
          <a:solidFill>
            <a:srgbClr val="273165"/>
          </a:solidFill>
          <a:ln>
            <a:solidFill>
              <a:srgbClr val="43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498848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EXPLAIN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3440" y="4846320"/>
            <a:ext cx="290779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Understand which features drive the model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0" y="4251960"/>
            <a:ext cx="3383280" cy="1234440"/>
          </a:xfrm>
          <a:prstGeom prst="roundRect">
            <a:avLst/>
          </a:prstGeom>
          <a:solidFill>
            <a:srgbClr val="273165"/>
          </a:solidFill>
          <a:ln>
            <a:solidFill>
              <a:srgbClr val="43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4498848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 panose="020F0502020204030204"/>
              </a:rPr>
              <a:t>CLASSIFY</a:t>
            </a:r>
            <a:endParaRPr sz="1000" b="1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30768" y="4846320"/>
            <a:ext cx="290779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Translate the prediction into a risk level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" y="598932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THANK YOU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03920" y="598932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300" b="0">
                <a:solidFill>
                  <a:srgbClr val="D7DCEC"/>
                </a:solidFill>
                <a:latin typeface="Calibri" panose="020F0502020204030204"/>
              </a:rPr>
              <a:t>Questions &amp; Discussion</a:t>
            </a:r>
            <a:endParaRPr sz="1300" b="0">
              <a:solidFill>
                <a:srgbClr val="D7DCEC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4944" y="6537960"/>
            <a:ext cx="329184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9BA3BE"/>
                </a:solidFill>
                <a:latin typeface="Calibri" panose="020F0502020204030204"/>
              </a:rPr>
              <a:t>Source: Pollution_Risk_Forecasting.ipynb</a:t>
            </a:r>
            <a:endParaRPr sz="700" b="0">
              <a:solidFill>
                <a:srgbClr val="9BA3B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7342</Words>
  <Application>WPS Presentation</Application>
  <PresentationFormat>On-screen Show (4:3)</PresentationFormat>
  <Paragraphs>646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Lenka Rajesh</cp:lastModifiedBy>
  <cp:revision>7</cp:revision>
  <dcterms:created xsi:type="dcterms:W3CDTF">2013-01-27T09:14:00Z</dcterms:created>
  <dcterms:modified xsi:type="dcterms:W3CDTF">2026-09-07T04:46:03Z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55F9D843B98F4E7BA5838EF88573252B_12</vt:lpwstr>
  </property>
  <property fmtid="{D5CDD505-2E9C-101B-9397-08002B2CF9AE}" pid="3" name="KSOProductBuildVer">
    <vt:lpwstr>1033-12.1.0.27458</vt:lpwstr>
  </property>
</Properties>
</file>